
<file path=[Content_Types].xml><?xml version="1.0" encoding="utf-8"?>
<Types xmlns="http://schemas.openxmlformats.org/package/2006/content-types">
  <Default Extension="bmp" ContentType="image/bmp"/>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98" r:id="rId5"/>
    <p:sldId id="260" r:id="rId6"/>
    <p:sldId id="261" r:id="rId7"/>
    <p:sldId id="262" r:id="rId8"/>
    <p:sldId id="263" r:id="rId9"/>
    <p:sldId id="264" r:id="rId10"/>
    <p:sldId id="265" r:id="rId11"/>
    <p:sldId id="297" r:id="rId12"/>
    <p:sldId id="266" r:id="rId13"/>
    <p:sldId id="267" r:id="rId14"/>
    <p:sldId id="268" r:id="rId15"/>
    <p:sldId id="269" r:id="rId16"/>
    <p:sldId id="270" r:id="rId17"/>
    <p:sldId id="271" r:id="rId18"/>
    <p:sldId id="296" r:id="rId19"/>
    <p:sldId id="272" r:id="rId20"/>
    <p:sldId id="273" r:id="rId21"/>
    <p:sldId id="274" r:id="rId22"/>
    <p:sldId id="275" r:id="rId23"/>
    <p:sldId id="276" r:id="rId24"/>
    <p:sldId id="277" r:id="rId25"/>
    <p:sldId id="278" r:id="rId26"/>
    <p:sldId id="279" r:id="rId27"/>
    <p:sldId id="294" r:id="rId28"/>
    <p:sldId id="280" r:id="rId29"/>
    <p:sldId id="281" r:id="rId30"/>
    <p:sldId id="282" r:id="rId31"/>
    <p:sldId id="283" r:id="rId32"/>
    <p:sldId id="284" r:id="rId33"/>
    <p:sldId id="285" r:id="rId34"/>
    <p:sldId id="286" r:id="rId35"/>
    <p:sldId id="295" r:id="rId36"/>
    <p:sldId id="287" r:id="rId37"/>
    <p:sldId id="288" r:id="rId38"/>
    <p:sldId id="289" r:id="rId39"/>
    <p:sldId id="290" r:id="rId40"/>
    <p:sldId id="291" r:id="rId41"/>
    <p:sldId id="292" r:id="rId42"/>
    <p:sldId id="293" r:id="rId43"/>
  </p:sldIdLst>
  <p:sldSz cx="12192000" cy="6858000"/>
  <p:notesSz cx="12192000" cy="6858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295164-E4B9-E941-A625-90F579DC7EEA}" v="4" dt="2026-10-15T18:57:36.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9000" y="1905000"/>
            <a:ext cx="10414000" cy="13208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7420">
                <a:solidFill>
                  <a:srgbClr val="20222F"/>
                </a:solidFill>
              </a:defRPr>
            </a:lvl1pPr>
          </a:lstStyle>
          <a:p>
            <a:pPr algn="ctr"/>
            <a:endParaRPr/>
          </a:p>
        </p:txBody>
      </p:sp>
      <p:sp>
        <p:nvSpPr>
          <p:cNvPr id="3" name="New Shape"/>
          <p:cNvSpPr>
            <a:spLocks noGrp="1"/>
          </p:cNvSpPr>
          <p:nvPr>
            <p:ph type="body" idx="1"/>
          </p:nvPr>
        </p:nvSpPr>
        <p:spPr>
          <a:xfrm>
            <a:off x="889000" y="3238500"/>
            <a:ext cx="10414000" cy="825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
        <p:nvSpPr>
          <p:cNvPr id="4" name="New Shape"/>
          <p:cNvSpPr>
            <a:spLocks noGrp="1"/>
          </p:cNvSpPr>
          <p:nvPr>
            <p:ph type="body" idx="2"/>
          </p:nvPr>
        </p:nvSpPr>
        <p:spPr>
          <a:xfrm>
            <a:off x="882649" y="4191000"/>
            <a:ext cx="10426700" cy="6667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762000"/>
            <a:ext cx="10414000" cy="43180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endParaRP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5786">
                <a:solidFill>
                  <a:srgbClr val="06294B"/>
                </a:solidFill>
              </a:defRPr>
            </a:lvl1pPr>
          </a:lstStyle>
          <a:p>
            <a:pPr algn="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pic>
        <p:nvPicPr>
          <p:cNvPr id="3" name="Picture 2" descr="A cross on a rock&#10;&#10;AI-generated content may be incorrect.">
            <a:extLst>
              <a:ext uri="{FF2B5EF4-FFF2-40B4-BE49-F238E27FC236}">
                <a16:creationId xmlns:a16="http://schemas.microsoft.com/office/drawing/2014/main" id="{57076006-63C7-1573-B532-86C2B703CC29}"/>
              </a:ext>
            </a:extLst>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b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9000" y="1905000"/>
            <a:ext cx="10414000" cy="289028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7420">
                <a:solidFill>
                  <a:srgbClr val="20222F"/>
                </a:solidFill>
              </a:defRPr>
            </a:lvl1pPr>
          </a:lstStyle>
          <a:p>
            <a:pPr algn="ctr"/>
            <a:r>
              <a:rPr sz="7420" b="0" dirty="0">
                <a:solidFill>
                  <a:schemeClr val="bg1"/>
                </a:solidFill>
              </a:rPr>
              <a:t>Upon This Rock (Core Values)</a:t>
            </a:r>
          </a:p>
        </p:txBody>
      </p:sp>
      <p:pic>
        <p:nvPicPr>
          <p:cNvPr id="6" name="Picture 5" descr="A cross on a rock&#10;&#10;AI-generated content may be incorrect.">
            <a:extLst>
              <a:ext uri="{FF2B5EF4-FFF2-40B4-BE49-F238E27FC236}">
                <a16:creationId xmlns:a16="http://schemas.microsoft.com/office/drawing/2014/main" id="{461D4E8E-C34E-7448-A969-9E4457EC9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336783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ctr">
              <a:defRPr sz="9613">
                <a:solidFill>
                  <a:srgbClr val="20222F"/>
                </a:solidFill>
              </a:defRPr>
            </a:lvl1pPr>
          </a:lstStyle>
          <a:p>
            <a:pPr algn="ctr"/>
            <a:r>
              <a:rPr sz="9613" b="0" dirty="0">
                <a:solidFill>
                  <a:schemeClr val="bg1"/>
                </a:solidFill>
              </a:rPr>
              <a:t>Cedar Grove Baptist Church exists to create a space where people and families can meet Jesus, find community, and grow in their faith.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323549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4000" b="0" dirty="0">
                <a:solidFill>
                  <a:schemeClr val="bg1"/>
                </a:solidFill>
              </a:rPr>
              <a:t>Our purpose is to love others unconditionally, learn about God increasingly, live to share Jesus intentionally and lead others to Christ continually in Lebanon, TN and throughout the whole world.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37BDD-FEF0-2D05-2341-DB00CADBAC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A748AD3-4007-F938-2315-1E2F409BECE8}"/>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E88A85FD-AF30-60B3-4833-4FA764DC9A84}"/>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D770E53E-FB7A-2526-DDCE-51C3A4B40FA8}"/>
              </a:ext>
            </a:extLst>
          </p:cNvPr>
          <p:cNvSpPr>
            <a:spLocks noGrp="1"/>
          </p:cNvSpPr>
          <p:nvPr>
            <p:ph type="body" idx="2"/>
          </p:nvPr>
        </p:nvSpPr>
        <p:spPr/>
        <p:txBody>
          <a:bodyPr>
            <a:normAutofit fontScale="92500" lnSpcReduction="20000"/>
          </a:bodyPr>
          <a:lstStyle/>
          <a:p>
            <a:endParaRPr lang="en-US"/>
          </a:p>
        </p:txBody>
      </p:sp>
      <p:pic>
        <p:nvPicPr>
          <p:cNvPr id="6" name="Picture 5" descr="A cross on a rock&#10;&#10;AI-generated content may be incorrect.">
            <a:extLst>
              <a:ext uri="{FF2B5EF4-FFF2-40B4-BE49-F238E27FC236}">
                <a16:creationId xmlns:a16="http://schemas.microsoft.com/office/drawing/2014/main" id="{261442FF-D5BC-F284-A3A7-283BAD1375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53529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708484"/>
            <a:ext cx="9505950" cy="3454066"/>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23 Let us hold fast the confession of our hope without wavering, for He who promised is faithful. 24 And let us consider one another in order to stir up love and good works,</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Hebrews 10:23–25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564104"/>
            <a:ext cx="9505950" cy="3598445"/>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a:bodyPr>
          <a:lstStyle>
            <a:lvl1pPr algn="l">
              <a:defRPr sz="4993">
                <a:solidFill>
                  <a:srgbClr val="20222F"/>
                </a:solidFill>
              </a:defRPr>
            </a:lvl1pPr>
          </a:lstStyle>
          <a:p>
            <a:pPr algn="l"/>
            <a:r>
              <a:rPr sz="4993" b="0" dirty="0">
                <a:solidFill>
                  <a:schemeClr val="bg1"/>
                </a:solidFill>
              </a:rPr>
              <a:t>25 not forsaking the assembling of ourselves together, as is the manner of some, but exhorting one another, and so much the more as you see the Day approaching.</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Hebrews 10:23–25</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60358"/>
            <a:ext cx="9505950" cy="350219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2 fulfill my joy by being like-minded, having the same love, being of one accord, of one mind.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2:2</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695575"/>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lnSpcReduction="10000"/>
          </a:bodyPr>
          <a:lstStyle>
            <a:lvl1pPr algn="ctr">
              <a:defRPr sz="9613">
                <a:solidFill>
                  <a:srgbClr val="20222F"/>
                </a:solidFill>
              </a:defRPr>
            </a:lvl1pPr>
          </a:lstStyle>
          <a:p>
            <a:pPr algn="ctr"/>
            <a:r>
              <a:rPr sz="9613" b="0" dirty="0">
                <a:solidFill>
                  <a:schemeClr val="bg1"/>
                </a:solidFill>
              </a:rPr>
              <a:t>Accountability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274219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lnSpcReduction="10000"/>
          </a:bodyPr>
          <a:lstStyle>
            <a:lvl1pPr algn="ctr">
              <a:defRPr sz="9613">
                <a:solidFill>
                  <a:srgbClr val="20222F"/>
                </a:solidFill>
              </a:defRPr>
            </a:lvl1pPr>
          </a:lstStyle>
          <a:p>
            <a:pPr algn="ctr"/>
            <a:r>
              <a:rPr sz="6000" b="0" dirty="0">
                <a:solidFill>
                  <a:schemeClr val="bg1"/>
                </a:solidFill>
              </a:rPr>
              <a:t>I will exhibit accountability in my relationship with Christ and with fellow believers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414989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a:bodyPr>
          <a:lstStyle>
            <a:lvl1pPr algn="ctr">
              <a:defRPr sz="9613">
                <a:solidFill>
                  <a:srgbClr val="20222F"/>
                </a:solidFill>
              </a:defRPr>
            </a:lvl1pPr>
          </a:lstStyle>
          <a:p>
            <a:pPr algn="ctr"/>
            <a:r>
              <a:rPr sz="4000" b="0" dirty="0">
                <a:solidFill>
                  <a:schemeClr val="bg1"/>
                </a:solidFill>
              </a:rPr>
              <a:t>Accountability, in a biblical context, refers to the responsibility of individuals to answer for their actions, decisions, and stewardship before God and, at times, before others. It encompasses the idea that humans are answerable to God for their moral and ethical conduct, as well as their use of the resources and talents entrusted to them.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0016-DFB5-7C08-030C-81B33AC3D5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13C842-9A77-2C15-8338-F95077D1AF57}"/>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1E9B0B8F-4E93-1DC6-9EB5-D0F3B017B3B9}"/>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E735E785-F21D-741D-D53E-97562E037B20}"/>
              </a:ext>
            </a:extLst>
          </p:cNvPr>
          <p:cNvSpPr>
            <a:spLocks noGrp="1"/>
          </p:cNvSpPr>
          <p:nvPr>
            <p:ph type="body" idx="2"/>
          </p:nvPr>
        </p:nvSpPr>
        <p:spPr/>
        <p:txBody>
          <a:bodyPr>
            <a:normAutofit fontScale="92500" lnSpcReduction="20000"/>
          </a:bodyPr>
          <a:lstStyle/>
          <a:p>
            <a:endParaRPr lang="en-US"/>
          </a:p>
        </p:txBody>
      </p:sp>
      <p:pic>
        <p:nvPicPr>
          <p:cNvPr id="6" name="Picture 5" descr="A cross on a rock&#10;&#10;AI-generated content may be incorrect.">
            <a:extLst>
              <a:ext uri="{FF2B5EF4-FFF2-40B4-BE49-F238E27FC236}">
                <a16:creationId xmlns:a16="http://schemas.microsoft.com/office/drawing/2014/main" id="{92CB1BF8-C11D-ABE2-833D-49720B5A0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05634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319939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lnSpcReduction="10000"/>
          </a:bodyPr>
          <a:lstStyle>
            <a:lvl1pPr algn="ctr">
              <a:defRPr sz="9613">
                <a:solidFill>
                  <a:srgbClr val="20222F"/>
                </a:solidFill>
              </a:defRPr>
            </a:lvl1pPr>
          </a:lstStyle>
          <a:p>
            <a:pPr algn="ctr"/>
            <a:r>
              <a:rPr sz="5400" b="0" dirty="0">
                <a:solidFill>
                  <a:schemeClr val="bg1"/>
                </a:solidFill>
              </a:rPr>
              <a:t>By growing daily in the grace and knowledge of the Lord Jesus Christ and submitting to His Lordship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252562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0000" lnSpcReduction="20000"/>
          </a:bodyPr>
          <a:lstStyle>
            <a:lvl1pPr algn="ctr">
              <a:defRPr sz="9613">
                <a:solidFill>
                  <a:srgbClr val="20222F"/>
                </a:solidFill>
              </a:defRPr>
            </a:lvl1pPr>
          </a:lstStyle>
          <a:p>
            <a:pPr algn="ctr"/>
            <a:r>
              <a:rPr sz="9613" b="0" dirty="0">
                <a:solidFill>
                  <a:schemeClr val="bg1"/>
                </a:solidFill>
              </a:rPr>
              <a:t>Justification. Sanctification. Glorification.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695575"/>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ctr">
              <a:defRPr sz="9613">
                <a:solidFill>
                  <a:srgbClr val="20222F"/>
                </a:solidFill>
              </a:defRPr>
            </a:lvl1pPr>
          </a:lstStyle>
          <a:p>
            <a:pPr algn="ctr"/>
            <a:r>
              <a:rPr sz="9613" b="0" dirty="0">
                <a:solidFill>
                  <a:schemeClr val="bg1"/>
                </a:solidFill>
              </a:rPr>
              <a:t>Justification is God declaring a person righteous.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720516"/>
            <a:ext cx="9505950" cy="344203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10 as it is written, “There is none righteous, not even one;</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3:10</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732546"/>
            <a:ext cx="9505950" cy="343000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 Therefore, having been justified by faith, we have peace with God through our Lord Jesus Christ,…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5:1</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2057401"/>
            <a:ext cx="10426700" cy="277929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a:bodyPr>
          <a:lstStyle>
            <a:lvl1pPr algn="ctr">
              <a:defRPr sz="9613">
                <a:solidFill>
                  <a:srgbClr val="20222F"/>
                </a:solidFill>
              </a:defRPr>
            </a:lvl1pPr>
          </a:lstStyle>
          <a:p>
            <a:pPr algn="ctr"/>
            <a:r>
              <a:rPr sz="7200" b="0" dirty="0">
                <a:solidFill>
                  <a:schemeClr val="bg1"/>
                </a:solidFill>
              </a:rPr>
              <a:t>something or someone being set apart for holiness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6382A-DFE6-6EDE-92C4-99A4B83AB9A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1F9913-88F7-F52C-A59A-E4314B8070EF}"/>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0DB9229E-19F5-09AC-C0CE-F6460E51453F}"/>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C0F486C3-83F6-CC49-748E-BF1FA7CE1E4C}"/>
              </a:ext>
            </a:extLst>
          </p:cNvPr>
          <p:cNvSpPr>
            <a:spLocks noGrp="1"/>
          </p:cNvSpPr>
          <p:nvPr>
            <p:ph type="body" idx="2"/>
          </p:nvPr>
        </p:nvSpPr>
        <p:spPr/>
        <p:txBody>
          <a:bodyPr>
            <a:normAutofit fontScale="92500" lnSpcReduction="20000"/>
          </a:bodyPr>
          <a:lstStyle/>
          <a:p>
            <a:endParaRPr lang="en-US"/>
          </a:p>
        </p:txBody>
      </p:sp>
      <p:pic>
        <p:nvPicPr>
          <p:cNvPr id="6" name="Picture 5" descr="A cross on a rock&#10;&#10;AI-generated content may be incorrect.">
            <a:extLst>
              <a:ext uri="{FF2B5EF4-FFF2-40B4-BE49-F238E27FC236}">
                <a16:creationId xmlns:a16="http://schemas.microsoft.com/office/drawing/2014/main" id="{59DE2275-841B-0363-00AE-1D33219B0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04060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8" y="1997242"/>
            <a:ext cx="10214477" cy="31653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3600" b="0" dirty="0">
                <a:solidFill>
                  <a:schemeClr val="bg1"/>
                </a:solidFill>
              </a:rPr>
              <a:t>3 For this is the will of God, your sanctification; that is, that you abstain from sexual immorality; 4 that each of you know how to possess his own vessel in sanctification and honor, 5 not in lustful passion, like the Gentiles who do not know God;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1 Thessalonians 4:3–7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8" y="1624262"/>
            <a:ext cx="10106193" cy="353828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77500" lnSpcReduction="20000"/>
          </a:bodyPr>
          <a:lstStyle>
            <a:lvl1pPr algn="l">
              <a:defRPr sz="4993">
                <a:solidFill>
                  <a:srgbClr val="20222F"/>
                </a:solidFill>
              </a:defRPr>
            </a:lvl1pPr>
          </a:lstStyle>
          <a:p>
            <a:pPr algn="l"/>
            <a:r>
              <a:rPr sz="4993" b="0" dirty="0">
                <a:solidFill>
                  <a:schemeClr val="bg1"/>
                </a:solidFill>
              </a:rPr>
              <a:t>6 and that no man transgress and defraud his brother in the matter because the Lord is the avenger in all these things, just as we also told you before and solemnly warned you. 7 For God has not called us for the purpose of impurity, but in sanctification.</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1 Thessalonians 4:3–7</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1840832"/>
            <a:ext cx="10929354" cy="323916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62500" lnSpcReduction="20000"/>
          </a:bodyPr>
          <a:lstStyle>
            <a:lvl1pPr algn="l">
              <a:defRPr sz="6813">
                <a:solidFill>
                  <a:srgbClr val="4B4A4A"/>
                </a:solidFill>
              </a:defRPr>
            </a:lvl1pPr>
          </a:lstStyle>
          <a:p>
            <a:pPr algn="l"/>
            <a:r>
              <a:rPr sz="6813" b="0" dirty="0" err="1">
                <a:solidFill>
                  <a:schemeClr val="bg1"/>
                </a:solidFill>
              </a:rPr>
              <a:t>ἁγι</a:t>
            </a:r>
            <a:r>
              <a:rPr sz="6813" b="0" dirty="0">
                <a:solidFill>
                  <a:schemeClr val="bg1"/>
                </a:solidFill>
              </a:rPr>
              <a:t>α</a:t>
            </a:r>
            <a:r>
              <a:rPr sz="6813" b="0" dirty="0" err="1">
                <a:solidFill>
                  <a:schemeClr val="bg1"/>
                </a:solidFill>
              </a:rPr>
              <a:t>σμός</a:t>
            </a:r>
            <a:r>
              <a:rPr sz="6813" b="0" dirty="0">
                <a:solidFill>
                  <a:schemeClr val="bg1"/>
                </a:solidFill>
              </a:rPr>
              <a:t> (</a:t>
            </a:r>
            <a:r>
              <a:rPr sz="6813" b="0" dirty="0" err="1">
                <a:solidFill>
                  <a:schemeClr val="bg1"/>
                </a:solidFill>
              </a:rPr>
              <a:t>hagiasmos</a:t>
            </a:r>
            <a:r>
              <a:rPr sz="6813" b="0" dirty="0">
                <a:solidFill>
                  <a:schemeClr val="bg1"/>
                </a:solidFill>
              </a:rPr>
              <a:t>). n. masc. sanctification, holiness, consecration. Refers either to the process of becoming holy, by which the state of holiness is attained, or to the end result that the sanctifying work has obtained.</a:t>
            </a: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77500" lnSpcReduction="20000"/>
          </a:bodyPr>
          <a:lstStyle>
            <a:lvl1pPr algn="l">
              <a:defRPr sz="5786">
                <a:solidFill>
                  <a:srgbClr val="06294B"/>
                </a:solidFill>
              </a:defRPr>
            </a:lvl1pPr>
          </a:lstStyle>
          <a:p>
            <a:pPr algn="l"/>
            <a:r>
              <a:rPr sz="5786" b="0" dirty="0" err="1">
                <a:solidFill>
                  <a:schemeClr val="bg1"/>
                </a:solidFill>
              </a:rPr>
              <a:t>Lexham</a:t>
            </a:r>
            <a:r>
              <a:rPr sz="5786" b="0" dirty="0">
                <a:solidFill>
                  <a:schemeClr val="bg1"/>
                </a:solidFill>
              </a:rPr>
              <a:t> Theological Wordbook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2465471"/>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62500" lnSpcReduction="20000"/>
          </a:bodyPr>
          <a:lstStyle>
            <a:lvl1pPr algn="ctr">
              <a:defRPr sz="9613">
                <a:solidFill>
                  <a:srgbClr val="20222F"/>
                </a:solidFill>
              </a:defRPr>
            </a:lvl1pPr>
          </a:lstStyle>
          <a:p>
            <a:pPr algn="ctr"/>
            <a:r>
              <a:rPr sz="9613" b="0" dirty="0">
                <a:solidFill>
                  <a:schemeClr val="bg1"/>
                </a:solidFill>
              </a:rPr>
              <a:t>Glorification is God’s final removal of sin from the life of the saints in the eternal state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84420"/>
            <a:ext cx="9505950" cy="347812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17 For our light affliction, which is but for a moment, is working for us a far more exceeding and eternal weight of glory,</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2 Corinthians 4:17–18</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780674"/>
            <a:ext cx="9505950" cy="3381876"/>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18 while we do not look at the things which are seen, but at the things which are not seen. For the things which are seen are temporary, but the things which are not seen are eternal</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2 Corinthians 4:17–18</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3067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62500" lnSpcReduction="20000"/>
          </a:bodyPr>
          <a:lstStyle>
            <a:lvl1pPr algn="ctr">
              <a:defRPr sz="9613">
                <a:solidFill>
                  <a:srgbClr val="20222F"/>
                </a:solidFill>
              </a:defRPr>
            </a:lvl1pPr>
          </a:lstStyle>
          <a:p>
            <a:pPr algn="ctr"/>
            <a:r>
              <a:rPr sz="9613" b="0" dirty="0">
                <a:solidFill>
                  <a:schemeClr val="bg1"/>
                </a:solidFill>
              </a:rPr>
              <a:t>By growing daily in the grace and knowledge of the Lord Jesus Christ and submitting to His Lordship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768642"/>
            <a:ext cx="9505950" cy="33939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12 Not that I have already obtained it or have already become perfect, but I press on so that I may lay hold of that for which also I was laid hold of by Christ Jesus.</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3:12</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9B051-E607-FCBC-7A2C-6B3038981FD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E045D8-9902-8FEB-DDED-457F07AD8386}"/>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63A151C1-E92A-1787-4149-C026C571931B}"/>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563D319B-AABD-FACF-56E8-A26EA5646401}"/>
              </a:ext>
            </a:extLst>
          </p:cNvPr>
          <p:cNvSpPr>
            <a:spLocks noGrp="1"/>
          </p:cNvSpPr>
          <p:nvPr>
            <p:ph type="body" idx="2"/>
          </p:nvPr>
        </p:nvSpPr>
        <p:spPr/>
        <p:txBody>
          <a:bodyPr>
            <a:normAutofit fontScale="92500" lnSpcReduction="20000"/>
          </a:bodyPr>
          <a:lstStyle/>
          <a:p>
            <a:endParaRPr lang="en-US"/>
          </a:p>
        </p:txBody>
      </p:sp>
      <p:pic>
        <p:nvPicPr>
          <p:cNvPr id="6" name="Picture 5" descr="A cross on a rock&#10;&#10;AI-generated content may be incorrect.">
            <a:extLst>
              <a:ext uri="{FF2B5EF4-FFF2-40B4-BE49-F238E27FC236}">
                <a16:creationId xmlns:a16="http://schemas.microsoft.com/office/drawing/2014/main" id="{B8675762-3FD9-C552-674F-F8660B582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6920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720516"/>
            <a:ext cx="9505950" cy="344203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77500" lnSpcReduction="20000"/>
          </a:bodyPr>
          <a:lstStyle>
            <a:lvl1pPr algn="l">
              <a:defRPr sz="4993">
                <a:solidFill>
                  <a:srgbClr val="20222F"/>
                </a:solidFill>
              </a:defRPr>
            </a:lvl1pPr>
          </a:lstStyle>
          <a:p>
            <a:pPr algn="l"/>
            <a:r>
              <a:rPr sz="4993" b="0" dirty="0">
                <a:solidFill>
                  <a:schemeClr val="bg1"/>
                </a:solidFill>
              </a:rPr>
              <a:t>13 Brethren, I do not regard myself as having laid hold of it yet; but one thing I do: forgetting what lies behind and reaching forward to what lies ahead, 14 I press on toward the goal for the prize of the upward call of God in Christ Jesus.</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3:13–14</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576136"/>
            <a:ext cx="9505950" cy="358641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15 Let us therefore, as many as are perfect, have this attitude; and if in anything you have a different attitude, God will reveal that also to you;</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3:15–17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648326"/>
            <a:ext cx="9505950" cy="351422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16 however, let us keep living by that same standard to which we have attained. 17 Brethren, join in following my example, and observe those who walk according to the pattern you have in us.</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3:15–17</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864894"/>
            <a:ext cx="9505950" cy="3297655"/>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7 But whatever things were gain to me, those things I have counted as loss for the sake of Christ.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3:7–11</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588168"/>
            <a:ext cx="9505950" cy="357438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8 More than that, I count all things to be loss in view of the surpassing value of knowing Christ Jesus my Lord, for whom I have suffered the loss of all things, and count them but rubbish so that I may gain Christ,</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3:7–11</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6"/>
          </p:nvPr>
        </p:nvSpPr>
        <p:spPr>
          <a:xfrm>
            <a:off x="1035049" y="1540042"/>
            <a:ext cx="9505950" cy="36225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9 and may be found in Him, not having a righteousness of my own derived from the Law, but that which is through faith in Christ, the righteousness which comes from God on the basis of faith,</a:t>
            </a:r>
          </a:p>
        </p:txBody>
      </p:sp>
      <p:sp>
        <p:nvSpPr>
          <p:cNvPr id="3" name="New Shape"/>
          <p:cNvSpPr>
            <a:spLocks noGrp="1"/>
          </p:cNvSpPr>
          <p:nvPr>
            <p:ph type="body" idx="7"/>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3:7–11</a:t>
            </a:r>
          </a:p>
        </p:txBody>
      </p:sp>
      <p:sp>
        <p:nvSpPr>
          <p:cNvPr id="4" name="New Shape"/>
          <p:cNvSpPr>
            <a:spLocks noGrp="1"/>
          </p:cNvSpPr>
          <p:nvPr>
            <p:ph type="body" idx="8"/>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9"/>
          </p:nvPr>
        </p:nvSpPr>
        <p:spPr>
          <a:xfrm>
            <a:off x="1035049" y="1696452"/>
            <a:ext cx="9505950" cy="346609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10 that I may know Him and the power of His resurrection and the fellowship of His sufferings, being conformed to His death; 11 in order that I may attain to the resurrection from the dead.</a:t>
            </a:r>
          </a:p>
        </p:txBody>
      </p:sp>
      <p:sp>
        <p:nvSpPr>
          <p:cNvPr id="3" name="New Shape"/>
          <p:cNvSpPr>
            <a:spLocks noGrp="1"/>
          </p:cNvSpPr>
          <p:nvPr>
            <p:ph type="body" idx="10"/>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Philippians 3:7–11</a:t>
            </a:r>
          </a:p>
        </p:txBody>
      </p:sp>
      <p:sp>
        <p:nvSpPr>
          <p:cNvPr id="4" name="New Shape"/>
          <p:cNvSpPr>
            <a:spLocks noGrp="1"/>
          </p:cNvSpPr>
          <p:nvPr>
            <p:ph type="body" idx="11"/>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16277-7A4D-0FF7-3426-7EBD5242B9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C8F250-0BA3-AFA8-C1E7-CF7F899AA9F7}"/>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E33D5EFE-4368-DBD7-3B98-E5927DAEE1FA}"/>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BA3CA2A6-5D98-0FE4-3B12-0754EEC0FDB4}"/>
              </a:ext>
            </a:extLst>
          </p:cNvPr>
          <p:cNvSpPr>
            <a:spLocks noGrp="1"/>
          </p:cNvSpPr>
          <p:nvPr>
            <p:ph type="body" idx="2"/>
          </p:nvPr>
        </p:nvSpPr>
        <p:spPr/>
        <p:txBody>
          <a:bodyPr>
            <a:normAutofit fontScale="92500" lnSpcReduction="20000"/>
          </a:bodyPr>
          <a:lstStyle/>
          <a:p>
            <a:endParaRPr lang="en-US"/>
          </a:p>
        </p:txBody>
      </p:sp>
      <p:pic>
        <p:nvPicPr>
          <p:cNvPr id="6" name="Picture 5" descr="A cross on a rock&#10;&#10;AI-generated content may be incorrect.">
            <a:extLst>
              <a:ext uri="{FF2B5EF4-FFF2-40B4-BE49-F238E27FC236}">
                <a16:creationId xmlns:a16="http://schemas.microsoft.com/office/drawing/2014/main" id="{F18B7C8A-9C27-5443-208B-BE17637581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37068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540042"/>
            <a:ext cx="9505950" cy="36225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a:bodyPr>
          <a:lstStyle>
            <a:lvl1pPr algn="l">
              <a:defRPr sz="4993">
                <a:solidFill>
                  <a:srgbClr val="20222F"/>
                </a:solidFill>
              </a:defRPr>
            </a:lvl1pPr>
          </a:lstStyle>
          <a:p>
            <a:pPr algn="l"/>
            <a:r>
              <a:rPr sz="4993" b="0" dirty="0">
                <a:solidFill>
                  <a:schemeClr val="bg1"/>
                </a:solidFill>
              </a:rPr>
              <a:t>18 He is also head of the body, the church; and He is the beginning, the firstborn from the dead, so that He Himself will come to have first place in everything</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Colossians 1:18</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305501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62500" lnSpcReduction="20000"/>
          </a:bodyPr>
          <a:lstStyle>
            <a:lvl1pPr algn="ctr">
              <a:defRPr sz="9613">
                <a:solidFill>
                  <a:srgbClr val="20222F"/>
                </a:solidFill>
              </a:defRPr>
            </a:lvl1pPr>
          </a:lstStyle>
          <a:p>
            <a:pPr algn="ctr"/>
            <a:r>
              <a:rPr sz="9613" b="0" dirty="0">
                <a:solidFill>
                  <a:schemeClr val="bg1"/>
                </a:solidFill>
              </a:rPr>
              <a:t>By growing daily in the grace and knowledge of the Lord Jesus Christ and submitting to His Lordship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2874545"/>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0000" lnSpcReduction="20000"/>
          </a:bodyPr>
          <a:lstStyle>
            <a:lvl1pPr algn="ctr">
              <a:defRPr sz="9613">
                <a:solidFill>
                  <a:srgbClr val="20222F"/>
                </a:solidFill>
              </a:defRPr>
            </a:lvl1pPr>
          </a:lstStyle>
          <a:p>
            <a:pPr algn="ctr"/>
            <a:r>
              <a:rPr sz="9613" b="0" dirty="0">
                <a:solidFill>
                  <a:schemeClr val="bg1"/>
                </a:solidFill>
              </a:rPr>
              <a:t>By beginning and growing accountability partnerships with fellow believers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564104"/>
            <a:ext cx="9505950" cy="3598445"/>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17 Iron sharpens iron, So one man sharpens another.</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Proverbs 27:17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84420"/>
            <a:ext cx="9505950" cy="347812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1 Brethren, even if anyone is caught in any trespass, you who are spiritual, restore such a one in a spirit of gentleness; each one looking to yourself, so that you too will not be tempted.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Galatians 6:1</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72388"/>
            <a:ext cx="9505950" cy="3490161"/>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17 Iron sharpens iron, So one man sharpens another.</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Proverbs 27:17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46854C-9E28-C332-7EA1-A7A0F4548BBF}"/>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2D124F44-48F9-644C-D831-4EEC7FEC9F96}"/>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198262C8-857E-2E9E-D473-5C1A456A5C21}"/>
              </a:ext>
            </a:extLst>
          </p:cNvPr>
          <p:cNvSpPr>
            <a:spLocks noGrp="1"/>
          </p:cNvSpPr>
          <p:nvPr>
            <p:ph type="body" idx="2"/>
          </p:nvPr>
        </p:nvSpPr>
        <p:spPr/>
        <p:txBody>
          <a:bodyPr>
            <a:normAutofit fontScale="92500" lnSpcReduction="20000"/>
          </a:bodyPr>
          <a:lstStyle/>
          <a:p>
            <a:endParaRPr lang="en-US"/>
          </a:p>
        </p:txBody>
      </p:sp>
      <p:pic>
        <p:nvPicPr>
          <p:cNvPr id="6" name="Picture 5" descr="A cross on a rock&#10;&#10;AI-generated content may be incorrect.">
            <a:extLst>
              <a:ext uri="{FF2B5EF4-FFF2-40B4-BE49-F238E27FC236}">
                <a16:creationId xmlns:a16="http://schemas.microsoft.com/office/drawing/2014/main" id="{9E6EE99A-964B-189D-BB3E-6CCF6F77A0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10420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
        <a:ea typeface=""/>
        <a:cs typeface=""/>
      </a:majorFont>
      <a:minorFont>
        <a:latin typeface=""/>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1078</Words>
  <Application>Microsoft Macintosh PowerPoint</Application>
  <PresentationFormat>Widescreen</PresentationFormat>
  <Paragraphs>79</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Jacob Lannom</cp:lastModifiedBy>
  <cp:revision>2</cp:revision>
  <dcterms:modified xsi:type="dcterms:W3CDTF">2026-10-15T18:58:41Z</dcterms:modified>
</cp:coreProperties>
</file>