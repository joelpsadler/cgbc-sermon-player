
<file path=[Content_Types].xml><?xml version="1.0" encoding="utf-8"?>
<Types xmlns="http://schemas.openxmlformats.org/package/2006/content-types">
  <Default Extension="bmp" ContentType="image/bmp"/>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2"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303" r:id="rId23"/>
    <p:sldId id="278" r:id="rId24"/>
    <p:sldId id="279" r:id="rId25"/>
    <p:sldId id="280" r:id="rId26"/>
    <p:sldId id="281" r:id="rId27"/>
    <p:sldId id="282" r:id="rId28"/>
    <p:sldId id="283" r:id="rId29"/>
    <p:sldId id="284" r:id="rId30"/>
    <p:sldId id="285" r:id="rId31"/>
    <p:sldId id="286" r:id="rId32"/>
    <p:sldId id="287" r:id="rId33"/>
    <p:sldId id="288" r:id="rId34"/>
    <p:sldId id="304" r:id="rId35"/>
    <p:sldId id="289" r:id="rId36"/>
    <p:sldId id="290" r:id="rId37"/>
    <p:sldId id="291" r:id="rId38"/>
    <p:sldId id="292" r:id="rId39"/>
    <p:sldId id="294" r:id="rId40"/>
    <p:sldId id="295" r:id="rId41"/>
    <p:sldId id="296" r:id="rId42"/>
    <p:sldId id="297" r:id="rId43"/>
    <p:sldId id="298" r:id="rId44"/>
    <p:sldId id="299" r:id="rId45"/>
    <p:sldId id="300" r:id="rId46"/>
    <p:sldId id="301" r:id="rId47"/>
    <p:sldId id="305" r:id="rId48"/>
  </p:sldIdLst>
  <p:sldSz cx="12192000" cy="6858000"/>
  <p:notesSz cx="12192000" cy="6858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8E7EFB-4401-0A4F-82BA-090B6452F26D}" v="5" dt="2026-09-25T14:10:01.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73"/>
    <p:restoredTop sz="94658"/>
  </p:normalViewPr>
  <p:slideViewPr>
    <p:cSldViewPr snapToGrid="0">
      <p:cViewPr varScale="1">
        <p:scale>
          <a:sx n="106" d="100"/>
          <a:sy n="106" d="100"/>
        </p:scale>
        <p:origin x="152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9000" y="1905000"/>
            <a:ext cx="10414000" cy="13208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7420">
                <a:solidFill>
                  <a:srgbClr val="20222F"/>
                </a:solidFill>
              </a:defRPr>
            </a:lvl1pPr>
          </a:lstStyle>
          <a:p>
            <a:pPr algn="ctr"/>
            <a:endParaRPr/>
          </a:p>
        </p:txBody>
      </p:sp>
      <p:sp>
        <p:nvSpPr>
          <p:cNvPr id="3" name="New Shape"/>
          <p:cNvSpPr>
            <a:spLocks noGrp="1"/>
          </p:cNvSpPr>
          <p:nvPr>
            <p:ph type="body" idx="1"/>
          </p:nvPr>
        </p:nvSpPr>
        <p:spPr>
          <a:xfrm>
            <a:off x="889000" y="3238500"/>
            <a:ext cx="10414000" cy="825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
        <p:nvSpPr>
          <p:cNvPr id="4" name="New Shape"/>
          <p:cNvSpPr>
            <a:spLocks noGrp="1"/>
          </p:cNvSpPr>
          <p:nvPr>
            <p:ph type="body" idx="2"/>
          </p:nvPr>
        </p:nvSpPr>
        <p:spPr>
          <a:xfrm>
            <a:off x="882649" y="4191000"/>
            <a:ext cx="10426700" cy="6667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762000"/>
            <a:ext cx="10414000" cy="43180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endParaRP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5786">
                <a:solidFill>
                  <a:srgbClr val="06294B"/>
                </a:solidFill>
              </a:defRPr>
            </a:lvl1pPr>
          </a:lstStyle>
          <a:p>
            <a:pPr algn="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DA6B53-15F1-CB8F-55C8-D7C5C973A6DA}"/>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D88472-C8DB-69AE-2260-3191626364B3}"/>
              </a:ext>
            </a:extLst>
          </p:cNvPr>
          <p:cNvSpPr>
            <a:spLocks noGrp="1"/>
          </p:cNvSpPr>
          <p:nvPr>
            <p:ph type="body"/>
          </p:nvPr>
        </p:nvSpPr>
        <p:spPr/>
        <p:txBody>
          <a:bodyPr/>
          <a:lstStyle/>
          <a:p>
            <a:endParaRPr lang="en-US" dirty="0"/>
          </a:p>
        </p:txBody>
      </p:sp>
      <p:sp>
        <p:nvSpPr>
          <p:cNvPr id="3" name="Text Placeholder 2">
            <a:extLst>
              <a:ext uri="{FF2B5EF4-FFF2-40B4-BE49-F238E27FC236}">
                <a16:creationId xmlns:a16="http://schemas.microsoft.com/office/drawing/2014/main" id="{A1DFC90A-CDD5-8348-8D0B-89DA92BF24AB}"/>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FB6275EE-772A-77D0-0B22-E0A966BE1CDA}"/>
              </a:ext>
            </a:extLst>
          </p:cNvPr>
          <p:cNvSpPr>
            <a:spLocks noGrp="1"/>
          </p:cNvSpPr>
          <p:nvPr>
            <p:ph type="body" idx="2"/>
          </p:nvPr>
        </p:nvSpPr>
        <p:spPr/>
        <p:txBody>
          <a:bodyPr>
            <a:normAutofit fontScale="92500" lnSpcReduction="20000"/>
          </a:bodyPr>
          <a:lstStyle/>
          <a:p>
            <a:endParaRPr lang="en-US"/>
          </a:p>
        </p:txBody>
      </p:sp>
      <p:pic>
        <p:nvPicPr>
          <p:cNvPr id="5" name="Graphic 4">
            <a:extLst>
              <a:ext uri="{FF2B5EF4-FFF2-40B4-BE49-F238E27FC236}">
                <a16:creationId xmlns:a16="http://schemas.microsoft.com/office/drawing/2014/main" id="{0DFB6AF2-7EA7-17C6-8693-A2B96B035315}"/>
              </a:ext>
            </a:extLst>
          </p:cNvPr>
          <p:cNvPicPr>
            <a:picLocks noChangeAspect="1"/>
          </p:cNvPicPr>
          <p:nvPr/>
        </p:nvPicPr>
        <p:blipFill>
          <a:blip r:embed="rId2">
            <a:extLst>
              <a:ext uri="{96DAC541-7B7A-43D3-8B79-37D633B846F1}">
                <asvg:svgBlip xmlns:asvg="http://schemas.microsoft.com/office/drawing/2016/SVG/main" r:embed="rId3"/>
              </a:ext>
            </a:extLst>
          </a:blip>
          <a:srcRect l="23171" t="26847" r="24161" b="27027"/>
          <a:stretch>
            <a:fillRect/>
          </a:stretch>
        </p:blipFill>
        <p:spPr>
          <a:xfrm>
            <a:off x="3927389" y="1190433"/>
            <a:ext cx="4337221" cy="4477133"/>
          </a:xfrm>
          <a:prstGeom prst="rect">
            <a:avLst/>
          </a:prstGeom>
        </p:spPr>
      </p:pic>
    </p:spTree>
    <p:extLst>
      <p:ext uri="{BB962C8B-B14F-4D97-AF65-F5344CB8AC3E}">
        <p14:creationId xmlns:p14="http://schemas.microsoft.com/office/powerpoint/2010/main" val="1548488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10 And the disciples came and said to Him, “Why do You speak to them in parables?” 11 Jesus answered them, “To you it has been granted to know the mysteries of the kingdom of heaven, but to them it has not been granted.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13:10–17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12 “For whoever has, to him more shall be given, and he will have an abundance; but whoever does not have, even what he has shall be taken away from him.</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13:10–17</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6"/>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13 “Therefore I speak to them in parables; because while seeing they do not see, and while hearing they do not hear, nor do they understand.</a:t>
            </a:r>
          </a:p>
        </p:txBody>
      </p:sp>
      <p:sp>
        <p:nvSpPr>
          <p:cNvPr id="3" name="New Shape"/>
          <p:cNvSpPr>
            <a:spLocks noGrp="1"/>
          </p:cNvSpPr>
          <p:nvPr>
            <p:ph type="body" idx="7"/>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13:10–17</a:t>
            </a:r>
          </a:p>
        </p:txBody>
      </p:sp>
      <p:sp>
        <p:nvSpPr>
          <p:cNvPr id="4" name="New Shape"/>
          <p:cNvSpPr>
            <a:spLocks noGrp="1"/>
          </p:cNvSpPr>
          <p:nvPr>
            <p:ph type="body" idx="8"/>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9"/>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14 “In their case the prophecy of Isaiah is being fulfilled, which says, ‘You will keep on hearing, but will not understand; You will keep on seeing, but will not perceive;</a:t>
            </a:r>
          </a:p>
        </p:txBody>
      </p:sp>
      <p:sp>
        <p:nvSpPr>
          <p:cNvPr id="3" name="New Shape"/>
          <p:cNvSpPr>
            <a:spLocks noGrp="1"/>
          </p:cNvSpPr>
          <p:nvPr>
            <p:ph type="body" idx="10"/>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13:10–17</a:t>
            </a:r>
          </a:p>
        </p:txBody>
      </p:sp>
      <p:sp>
        <p:nvSpPr>
          <p:cNvPr id="4" name="New Shape"/>
          <p:cNvSpPr>
            <a:spLocks noGrp="1"/>
          </p:cNvSpPr>
          <p:nvPr>
            <p:ph type="body" idx="11"/>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12"/>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15 For the heart of this people has become dull, With their ears they scarcely hear, And they have closed their eyes, Otherwise they would see with their eyes, Hear with their ears, And understand with their heart and return, And I would heal them.’</a:t>
            </a:r>
          </a:p>
        </p:txBody>
      </p:sp>
      <p:sp>
        <p:nvSpPr>
          <p:cNvPr id="3" name="New Shape"/>
          <p:cNvSpPr>
            <a:spLocks noGrp="1"/>
          </p:cNvSpPr>
          <p:nvPr>
            <p:ph type="body" idx="13"/>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13:10–17</a:t>
            </a:r>
          </a:p>
        </p:txBody>
      </p:sp>
      <p:sp>
        <p:nvSpPr>
          <p:cNvPr id="4" name="New Shape"/>
          <p:cNvSpPr>
            <a:spLocks noGrp="1"/>
          </p:cNvSpPr>
          <p:nvPr>
            <p:ph type="body" idx="14"/>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15"/>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16 “But blessed are your eyes, because they see; and your ears, because they hear.</a:t>
            </a:r>
          </a:p>
        </p:txBody>
      </p:sp>
      <p:sp>
        <p:nvSpPr>
          <p:cNvPr id="3" name="New Shape"/>
          <p:cNvSpPr>
            <a:spLocks noGrp="1"/>
          </p:cNvSpPr>
          <p:nvPr>
            <p:ph type="body" idx="16"/>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13:10–17</a:t>
            </a:r>
          </a:p>
        </p:txBody>
      </p:sp>
      <p:sp>
        <p:nvSpPr>
          <p:cNvPr id="4" name="New Shape"/>
          <p:cNvSpPr>
            <a:spLocks noGrp="1"/>
          </p:cNvSpPr>
          <p:nvPr>
            <p:ph type="body" idx="17"/>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18"/>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17 “For truly I say to you that many prophets and righteous men desired to see what you see, and did not see it, and to hear what you hear, and did not hear it.</a:t>
            </a:r>
          </a:p>
        </p:txBody>
      </p:sp>
      <p:sp>
        <p:nvSpPr>
          <p:cNvPr id="3" name="New Shape"/>
          <p:cNvSpPr>
            <a:spLocks noGrp="1"/>
          </p:cNvSpPr>
          <p:nvPr>
            <p:ph type="body" idx="19"/>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13:10–17</a:t>
            </a:r>
          </a:p>
        </p:txBody>
      </p:sp>
      <p:sp>
        <p:nvSpPr>
          <p:cNvPr id="4" name="New Shape"/>
          <p:cNvSpPr>
            <a:spLocks noGrp="1"/>
          </p:cNvSpPr>
          <p:nvPr>
            <p:ph type="body" idx="20"/>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 “For the kingdom of heaven is like a landowner who went out early in the morning to hire laborers for his vineyard.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a:bodyPr>
          <a:lstStyle>
            <a:lvl1pPr algn="l">
              <a:defRPr sz="4993">
                <a:solidFill>
                  <a:srgbClr val="20222F"/>
                </a:solidFill>
              </a:defRPr>
            </a:lvl1pPr>
          </a:lstStyle>
          <a:p>
            <a:pPr algn="l"/>
            <a:r>
              <a:rPr sz="4993" b="0" dirty="0">
                <a:solidFill>
                  <a:schemeClr val="bg1"/>
                </a:solidFill>
              </a:rPr>
              <a:t>2 “When he had agreed with the laborers for a denarius for the day, he sent them into his vineyard. 3 “And he went out about the third hour and saw others standing idle in the market place;</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6"/>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a:bodyPr>
          <a:lstStyle>
            <a:lvl1pPr algn="l">
              <a:defRPr sz="4993">
                <a:solidFill>
                  <a:srgbClr val="20222F"/>
                </a:solidFill>
              </a:defRPr>
            </a:lvl1pPr>
          </a:lstStyle>
          <a:p>
            <a:pPr algn="l"/>
            <a:r>
              <a:rPr sz="4993" b="0" dirty="0">
                <a:solidFill>
                  <a:schemeClr val="bg1"/>
                </a:solidFill>
              </a:rPr>
              <a:t>4 and to those he said, ‘You also go into the vineyard, and whatever is right I will give you.’ And so they went. 5 “Again he went out about the sixth and the ninth hour, and did the same thing.</a:t>
            </a:r>
          </a:p>
        </p:txBody>
      </p:sp>
      <p:sp>
        <p:nvSpPr>
          <p:cNvPr id="3" name="New Shape"/>
          <p:cNvSpPr>
            <a:spLocks noGrp="1"/>
          </p:cNvSpPr>
          <p:nvPr>
            <p:ph type="body" idx="7"/>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8"/>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9"/>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6 “And about the eleventh hour he went out and found others standing around; and he said to them, ‘Why have you been standing here idle all day long?’ 7 “They said to him, ‘Because no one hired us.’ He said to them, ‘You go into the vineyard too.’</a:t>
            </a:r>
          </a:p>
        </p:txBody>
      </p:sp>
      <p:sp>
        <p:nvSpPr>
          <p:cNvPr id="3" name="New Shape"/>
          <p:cNvSpPr>
            <a:spLocks noGrp="1"/>
          </p:cNvSpPr>
          <p:nvPr>
            <p:ph type="body" idx="10"/>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11"/>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12"/>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8 “When evening came, the owner of the vineyard said to his foreman, ‘Call the laborers and pay them their wages, beginning with the last group to the first.’ 9 “When those hired about the eleventh hour came, each one received a denarius.</a:t>
            </a:r>
          </a:p>
        </p:txBody>
      </p:sp>
      <p:sp>
        <p:nvSpPr>
          <p:cNvPr id="3" name="New Shape"/>
          <p:cNvSpPr>
            <a:spLocks noGrp="1"/>
          </p:cNvSpPr>
          <p:nvPr>
            <p:ph type="body" idx="13"/>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14"/>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15"/>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10 “When those hired first came, they thought that they would receive more; but each of them also received a denarius. 11 “When they received it, they grumbled at the landowner,</a:t>
            </a:r>
          </a:p>
        </p:txBody>
      </p:sp>
      <p:sp>
        <p:nvSpPr>
          <p:cNvPr id="3" name="New Shape"/>
          <p:cNvSpPr>
            <a:spLocks noGrp="1"/>
          </p:cNvSpPr>
          <p:nvPr>
            <p:ph type="body" idx="16"/>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17"/>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18"/>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12 saying, ‘These last men have worked only one hour, and you have made them equal to us who have borne the burden and the scorching heat of the day.’</a:t>
            </a:r>
          </a:p>
        </p:txBody>
      </p:sp>
      <p:sp>
        <p:nvSpPr>
          <p:cNvPr id="3" name="New Shape"/>
          <p:cNvSpPr>
            <a:spLocks noGrp="1"/>
          </p:cNvSpPr>
          <p:nvPr>
            <p:ph type="body" idx="19"/>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20"/>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21"/>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13 “But he answered and said to one of them, ‘Friend, I am doing you no wrong; did you not agree with me for a denarius? 14 ‘Take what is yours and go, but I wish to give to this last man the same as to you.</a:t>
            </a:r>
          </a:p>
        </p:txBody>
      </p:sp>
      <p:sp>
        <p:nvSpPr>
          <p:cNvPr id="3" name="New Shape"/>
          <p:cNvSpPr>
            <a:spLocks noGrp="1"/>
          </p:cNvSpPr>
          <p:nvPr>
            <p:ph type="body" idx="22"/>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23"/>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24"/>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15 ‘Is it not lawful for me to do what I wish with what is my own? Or is your eye envious because I am generous?’ 16 “So the last shall be first, and the first last.”</a:t>
            </a:r>
          </a:p>
        </p:txBody>
      </p:sp>
      <p:sp>
        <p:nvSpPr>
          <p:cNvPr id="3" name="New Shape"/>
          <p:cNvSpPr>
            <a:spLocks noGrp="1"/>
          </p:cNvSpPr>
          <p:nvPr>
            <p:ph type="body" idx="25"/>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20:1–16</a:t>
            </a:r>
          </a:p>
        </p:txBody>
      </p:sp>
      <p:sp>
        <p:nvSpPr>
          <p:cNvPr id="4" name="New Shape"/>
          <p:cNvSpPr>
            <a:spLocks noGrp="1"/>
          </p:cNvSpPr>
          <p:nvPr>
            <p:ph type="body" idx="26"/>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62500" lnSpcReduction="20000"/>
          </a:bodyPr>
          <a:lstStyle>
            <a:lvl1pPr algn="ctr">
              <a:defRPr sz="9613">
                <a:solidFill>
                  <a:srgbClr val="20222F"/>
                </a:solidFill>
              </a:defRPr>
            </a:lvl1pPr>
          </a:lstStyle>
          <a:p>
            <a:pPr algn="ctr"/>
            <a:r>
              <a:rPr sz="9613" b="0" dirty="0">
                <a:solidFill>
                  <a:schemeClr val="bg1"/>
                </a:solidFill>
              </a:rPr>
              <a:t>Good Gifts From A Good God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30 “But many who are first will be last; and the last, first.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19:30</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16 “So the last shall be first, and the first last.”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20:16</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8800" b="0" dirty="0">
                <a:solidFill>
                  <a:schemeClr val="bg1"/>
                </a:solidFill>
              </a:rPr>
              <a:t>Their Dependency</a:t>
            </a: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71E443-C815-56B0-0749-BAE2D60B7BED}"/>
              </a:ext>
            </a:extLst>
          </p:cNvPr>
          <p:cNvSpPr>
            <a:spLocks noGrp="1"/>
          </p:cNvSpPr>
          <p:nvPr>
            <p:ph type="body"/>
          </p:nvPr>
        </p:nvSpPr>
        <p:spPr/>
        <p:txBody>
          <a:bodyPr>
            <a:normAutofit lnSpcReduction="10000"/>
          </a:bodyPr>
          <a:lstStyle/>
          <a:p>
            <a:endParaRPr lang="en-US" dirty="0"/>
          </a:p>
        </p:txBody>
      </p:sp>
      <p:sp>
        <p:nvSpPr>
          <p:cNvPr id="3" name="Text Placeholder 2">
            <a:extLst>
              <a:ext uri="{FF2B5EF4-FFF2-40B4-BE49-F238E27FC236}">
                <a16:creationId xmlns:a16="http://schemas.microsoft.com/office/drawing/2014/main" id="{7454981E-ECB1-3A47-97F8-1E763E13B4BB}"/>
              </a:ext>
            </a:extLst>
          </p:cNvPr>
          <p:cNvSpPr>
            <a:spLocks noGrp="1"/>
          </p:cNvSpPr>
          <p:nvPr>
            <p:ph type="body" idx="1"/>
          </p:nvPr>
        </p:nvSpPr>
        <p:spPr/>
        <p:txBody>
          <a:bodyPr/>
          <a:lstStyle/>
          <a:p>
            <a:endParaRPr lang="en-US"/>
          </a:p>
        </p:txBody>
      </p:sp>
      <p:pic>
        <p:nvPicPr>
          <p:cNvPr id="4" name="Graphic 3">
            <a:extLst>
              <a:ext uri="{FF2B5EF4-FFF2-40B4-BE49-F238E27FC236}">
                <a16:creationId xmlns:a16="http://schemas.microsoft.com/office/drawing/2014/main" id="{C89B41F0-EE5E-9693-9025-D4A29CCE6DE5}"/>
              </a:ext>
            </a:extLst>
          </p:cNvPr>
          <p:cNvPicPr>
            <a:picLocks noChangeAspect="1"/>
          </p:cNvPicPr>
          <p:nvPr/>
        </p:nvPicPr>
        <p:blipFill>
          <a:blip r:embed="rId2">
            <a:extLst>
              <a:ext uri="{96DAC541-7B7A-43D3-8B79-37D633B846F1}">
                <asvg:svgBlip xmlns:asvg="http://schemas.microsoft.com/office/drawing/2016/SVG/main" r:embed="rId3"/>
              </a:ext>
            </a:extLst>
          </a:blip>
          <a:srcRect l="23171" t="26847" r="24161" b="27027"/>
          <a:stretch>
            <a:fillRect/>
          </a:stretch>
        </p:blipFill>
        <p:spPr>
          <a:xfrm>
            <a:off x="3927389" y="1190433"/>
            <a:ext cx="4337221" cy="4477133"/>
          </a:xfrm>
          <a:prstGeom prst="rect">
            <a:avLst/>
          </a:prstGeom>
        </p:spPr>
      </p:pic>
    </p:spTree>
    <p:extLst>
      <p:ext uri="{BB962C8B-B14F-4D97-AF65-F5344CB8AC3E}">
        <p14:creationId xmlns:p14="http://schemas.microsoft.com/office/powerpoint/2010/main" val="1803591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8800" b="0" dirty="0">
                <a:solidFill>
                  <a:schemeClr val="bg1"/>
                </a:solidFill>
              </a:rPr>
              <a:t>Their Opportunity</a:t>
            </a: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3 “And he went out about the third hour and saw others standing idle in the market place;</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20:3–4</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4 and to those he said, ‘You also go into the vineyard, and whatever is right I will give you.’ And so they went.</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20:3–4</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5 “Again he went out about the sixth and the ninth hour, and did the same thing.</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6 “And about the eleventh hour he went out and found others standing around; and he said to them, ‘Why have you been standing here idle all day long?’</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20:6–7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7 “They said to him, ‘Because no one hired us.’ He said to them, ‘You go into the vineyard too.’</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20:6–7</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8 “When evening came, the owner of the vineyard said to his foreman, ‘Call the laborers and pay them their wages, beginning with the last group to the first.’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20:8–9</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9 “When those hired about the eleventh hour came, each one received a denarius.</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20:8–9</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10 “When those hired first came, they thought that they would receive more; but each of them also received a denarius. 11 “When they received it, they grumbled at the landowner,</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20:10–12</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12 saying, ‘These last men have worked only one hour, and you have made them equal to us who have borne the burden and the scorching heat of the day.’</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20:10–12</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8800" b="0" dirty="0">
                <a:solidFill>
                  <a:schemeClr val="bg1"/>
                </a:solidFill>
              </a:rPr>
              <a:t>His Impartiality</a:t>
            </a: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951C16-CEF4-92DD-AA66-1EF980A71D31}"/>
              </a:ext>
            </a:extLst>
          </p:cNvPr>
          <p:cNvSpPr>
            <a:spLocks noGrp="1"/>
          </p:cNvSpPr>
          <p:nvPr>
            <p:ph type="body"/>
          </p:nvPr>
        </p:nvSpPr>
        <p:spPr/>
        <p:txBody>
          <a:bodyPr>
            <a:normAutofit lnSpcReduction="10000"/>
          </a:bodyPr>
          <a:lstStyle/>
          <a:p>
            <a:endParaRPr lang="en-US"/>
          </a:p>
        </p:txBody>
      </p:sp>
      <p:sp>
        <p:nvSpPr>
          <p:cNvPr id="3" name="Text Placeholder 2">
            <a:extLst>
              <a:ext uri="{FF2B5EF4-FFF2-40B4-BE49-F238E27FC236}">
                <a16:creationId xmlns:a16="http://schemas.microsoft.com/office/drawing/2014/main" id="{6D3AB484-65E9-4570-6B7C-A8DA4E8FEE8C}"/>
              </a:ext>
            </a:extLst>
          </p:cNvPr>
          <p:cNvSpPr>
            <a:spLocks noGrp="1"/>
          </p:cNvSpPr>
          <p:nvPr>
            <p:ph type="body" idx="1"/>
          </p:nvPr>
        </p:nvSpPr>
        <p:spPr/>
        <p:txBody>
          <a:bodyPr/>
          <a:lstStyle/>
          <a:p>
            <a:endParaRPr lang="en-US"/>
          </a:p>
        </p:txBody>
      </p:sp>
      <p:pic>
        <p:nvPicPr>
          <p:cNvPr id="4" name="Graphic 3">
            <a:extLst>
              <a:ext uri="{FF2B5EF4-FFF2-40B4-BE49-F238E27FC236}">
                <a16:creationId xmlns:a16="http://schemas.microsoft.com/office/drawing/2014/main" id="{5552E2AD-E3F7-5957-C8FF-1EF1799865C0}"/>
              </a:ext>
            </a:extLst>
          </p:cNvPr>
          <p:cNvPicPr>
            <a:picLocks noChangeAspect="1"/>
          </p:cNvPicPr>
          <p:nvPr/>
        </p:nvPicPr>
        <p:blipFill>
          <a:blip r:embed="rId2">
            <a:extLst>
              <a:ext uri="{96DAC541-7B7A-43D3-8B79-37D633B846F1}">
                <asvg:svgBlip xmlns:asvg="http://schemas.microsoft.com/office/drawing/2016/SVG/main" r:embed="rId3"/>
              </a:ext>
            </a:extLst>
          </a:blip>
          <a:srcRect l="23171" t="26847" r="24161" b="27027"/>
          <a:stretch>
            <a:fillRect/>
          </a:stretch>
        </p:blipFill>
        <p:spPr>
          <a:xfrm>
            <a:off x="3927389" y="1190433"/>
            <a:ext cx="4337221" cy="4477133"/>
          </a:xfrm>
          <a:prstGeom prst="rect">
            <a:avLst/>
          </a:prstGeom>
        </p:spPr>
      </p:pic>
    </p:spTree>
    <p:extLst>
      <p:ext uri="{BB962C8B-B14F-4D97-AF65-F5344CB8AC3E}">
        <p14:creationId xmlns:p14="http://schemas.microsoft.com/office/powerpoint/2010/main" val="3190627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8 For by grace you have been saved through faith; and that not of yourselves, it is the gift of God; 9 not as a result of works, so that no one may boast.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Ephesians 2:8–10</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10 For we are His workmanship, created in Christ Jesus for good works, which God prepared beforehand so that we would walk in them.</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Ephesians 2:8–10</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13 “But he answered and said to one of them, ‘Friend, I am doing you no wrong; did you not agree with me for a denarius? 14 ‘Take what is yours and go, but I wish to give to this last man the same as to you.</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20:13–16</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15 ‘Is it not lawful for me to do what I wish with what is my own? Or is your eye envious because I am generous?’ 16 “So the last shall be first, and the first last.”</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20:13–16</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11 For there is no partiality with God.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2:11</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10 “For the Son of Man has come to seek and to save that which was lost.”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Luke 19:10</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8800" b="0" dirty="0">
                <a:solidFill>
                  <a:schemeClr val="bg1"/>
                </a:solidFill>
              </a:rPr>
              <a:t>Their Availability</a:t>
            </a: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13 for “Whoever will call on the name of the Lord will be saved.”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10:13</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a:bodyPr>
          <a:lstStyle>
            <a:lvl1pPr algn="l">
              <a:defRPr sz="4993">
                <a:solidFill>
                  <a:srgbClr val="20222F"/>
                </a:solidFill>
              </a:defRPr>
            </a:lvl1pPr>
          </a:lstStyle>
          <a:p>
            <a:pPr algn="l"/>
            <a:r>
              <a:rPr sz="4993" b="0" dirty="0">
                <a:solidFill>
                  <a:schemeClr val="bg1"/>
                </a:solidFill>
              </a:rPr>
              <a:t>8 Then Pharaoh called for Moses and Aaron and said, “Entreat the Lord that He remove the frogs from me and from my people; and I will let the people go, that they may sacrifice to the Lord.”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Exodus 8:8–9</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9 Moses said to Pharaoh, “The honor is yours to tell me: when shall I entreat for you and your servants and your people, that the frogs be destroyed from you and your houses, that they may be left only in the Nile?”</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Exodus 8:8–9</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10 Then he said, “Tomorrow…</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Exodus 8:10</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2 for He says, “At the acceptable time I listened to you, And on the day of salvation I helped you.” Behold, now is “the acceptable time,” behold, now is “the day of salvation”—</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2 Corinthians 6:2</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5FC1F5-5BC5-126A-9F5E-4C1762D812AB}"/>
              </a:ext>
            </a:extLst>
          </p:cNvPr>
          <p:cNvSpPr>
            <a:spLocks noGrp="1"/>
          </p:cNvSpPr>
          <p:nvPr>
            <p:ph type="body"/>
          </p:nvPr>
        </p:nvSpPr>
        <p:spPr/>
        <p:txBody>
          <a:bodyPr/>
          <a:lstStyle/>
          <a:p>
            <a:endParaRPr lang="en-US" dirty="0"/>
          </a:p>
        </p:txBody>
      </p:sp>
      <p:sp>
        <p:nvSpPr>
          <p:cNvPr id="3" name="Text Placeholder 2">
            <a:extLst>
              <a:ext uri="{FF2B5EF4-FFF2-40B4-BE49-F238E27FC236}">
                <a16:creationId xmlns:a16="http://schemas.microsoft.com/office/drawing/2014/main" id="{F37C7298-44AC-E146-DBCC-909CE369232D}"/>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92C32771-8779-562E-887E-5B4637FC44CD}"/>
              </a:ext>
            </a:extLst>
          </p:cNvPr>
          <p:cNvSpPr>
            <a:spLocks noGrp="1"/>
          </p:cNvSpPr>
          <p:nvPr>
            <p:ph type="body" idx="2"/>
          </p:nvPr>
        </p:nvSpPr>
        <p:spPr/>
        <p:txBody>
          <a:bodyPr>
            <a:normAutofit fontScale="92500" lnSpcReduction="20000"/>
          </a:bodyPr>
          <a:lstStyle/>
          <a:p>
            <a:endParaRPr lang="en-US"/>
          </a:p>
        </p:txBody>
      </p:sp>
      <p:pic>
        <p:nvPicPr>
          <p:cNvPr id="5" name="Graphic 4">
            <a:extLst>
              <a:ext uri="{FF2B5EF4-FFF2-40B4-BE49-F238E27FC236}">
                <a16:creationId xmlns:a16="http://schemas.microsoft.com/office/drawing/2014/main" id="{7A42CECD-A265-83C7-8BB8-6467B490F7DC}"/>
              </a:ext>
            </a:extLst>
          </p:cNvPr>
          <p:cNvPicPr>
            <a:picLocks noChangeAspect="1"/>
          </p:cNvPicPr>
          <p:nvPr/>
        </p:nvPicPr>
        <p:blipFill>
          <a:blip r:embed="rId2">
            <a:extLst>
              <a:ext uri="{96DAC541-7B7A-43D3-8B79-37D633B846F1}">
                <asvg:svgBlip xmlns:asvg="http://schemas.microsoft.com/office/drawing/2016/SVG/main" r:embed="rId3"/>
              </a:ext>
            </a:extLst>
          </a:blip>
          <a:srcRect l="23171" t="26847" r="24161" b="27027"/>
          <a:stretch>
            <a:fillRect/>
          </a:stretch>
        </p:blipFill>
        <p:spPr>
          <a:xfrm>
            <a:off x="3927389" y="1190433"/>
            <a:ext cx="4337221" cy="4477133"/>
          </a:xfrm>
          <a:prstGeom prst="rect">
            <a:avLst/>
          </a:prstGeom>
        </p:spPr>
      </p:pic>
    </p:spTree>
    <p:extLst>
      <p:ext uri="{BB962C8B-B14F-4D97-AF65-F5344CB8AC3E}">
        <p14:creationId xmlns:p14="http://schemas.microsoft.com/office/powerpoint/2010/main" val="4219383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
        <a:ea typeface=""/>
        <a:cs typeface=""/>
      </a:majorFont>
      <a:minorFont>
        <a:latin typeface=""/>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1438</Words>
  <Application>Microsoft Macintosh PowerPoint</Application>
  <PresentationFormat>Widescreen</PresentationFormat>
  <Paragraphs>119</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Jacob Lannom</cp:lastModifiedBy>
  <cp:revision>2</cp:revision>
  <dcterms:modified xsi:type="dcterms:W3CDTF">2026-09-25T14:10:07Z</dcterms:modified>
</cp:coreProperties>
</file>